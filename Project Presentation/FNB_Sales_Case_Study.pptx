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(Rm)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Sheet1!$A$2:$A$37</c:f>
              <c:multiLvlStrCache>
                <c:ptCount val="36"/>
                <c:lvl>
                  <c:pt idx="0">
                    <c:v>Dec'13</c:v>
                  </c:pt>
                  <c:pt idx="1">
                    <c:v>Jan'14</c:v>
                  </c:pt>
                  <c:pt idx="2">
                    <c:v>Feb'14</c:v>
                  </c:pt>
                  <c:pt idx="3">
                    <c:v>Mar'14</c:v>
                  </c:pt>
                  <c:pt idx="4">
                    <c:v>Apr'14</c:v>
                  </c:pt>
                  <c:pt idx="5">
                    <c:v>May'14</c:v>
                  </c:pt>
                  <c:pt idx="6">
                    <c:v>Jun'14</c:v>
                  </c:pt>
                  <c:pt idx="7">
                    <c:v>Jul'14</c:v>
                  </c:pt>
                  <c:pt idx="8">
                    <c:v>Aug'14</c:v>
                  </c:pt>
                  <c:pt idx="9">
                    <c:v>Sep'14</c:v>
                  </c:pt>
                  <c:pt idx="10">
                    <c:v>Oct'14</c:v>
                  </c:pt>
                  <c:pt idx="11">
                    <c:v>Nov'14</c:v>
                  </c:pt>
                  <c:pt idx="12">
                    <c:v>Dec'14</c:v>
                  </c:pt>
                  <c:pt idx="13">
                    <c:v>Jan'15</c:v>
                  </c:pt>
                  <c:pt idx="14">
                    <c:v>Feb'15</c:v>
                  </c:pt>
                  <c:pt idx="15">
                    <c:v>Mar'15</c:v>
                  </c:pt>
                  <c:pt idx="16">
                    <c:v>Apr'15</c:v>
                  </c:pt>
                  <c:pt idx="17">
                    <c:v>May'15</c:v>
                  </c:pt>
                  <c:pt idx="18">
                    <c:v>Jun'15</c:v>
                  </c:pt>
                  <c:pt idx="19">
                    <c:v>Jul'15</c:v>
                  </c:pt>
                  <c:pt idx="20">
                    <c:v>Aug'15</c:v>
                  </c:pt>
                  <c:pt idx="21">
                    <c:v>Sep'15</c:v>
                  </c:pt>
                  <c:pt idx="22">
                    <c:v>Oct'15</c:v>
                  </c:pt>
                  <c:pt idx="23">
                    <c:v>Nov'15</c:v>
                  </c:pt>
                  <c:pt idx="24">
                    <c:v>Dec'15</c:v>
                  </c:pt>
                  <c:pt idx="25">
                    <c:v>Jan'16</c:v>
                  </c:pt>
                  <c:pt idx="26">
                    <c:v>Feb'16</c:v>
                  </c:pt>
                  <c:pt idx="27">
                    <c:v>Mar'16</c:v>
                  </c:pt>
                  <c:pt idx="28">
                    <c:v>Apr'16</c:v>
                  </c:pt>
                  <c:pt idx="29">
                    <c:v>May'16</c:v>
                  </c:pt>
                  <c:pt idx="30">
                    <c:v>Jun'16</c:v>
                  </c:pt>
                  <c:pt idx="31">
                    <c:v>Jul'16</c:v>
                  </c:pt>
                  <c:pt idx="32">
                    <c:v>Aug'16</c:v>
                  </c:pt>
                  <c:pt idx="33">
                    <c:v>Sep'16</c:v>
                  </c:pt>
                  <c:pt idx="34">
                    <c:v>Oct'16</c:v>
                  </c:pt>
                  <c:pt idx="35">
                    <c:v>Nov'16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0.52</c:v>
                </c:pt>
                <c:pt idx="1">
                  <c:v>4.01</c:v>
                </c:pt>
                <c:pt idx="2">
                  <c:v>5.78</c:v>
                </c:pt>
                <c:pt idx="3">
                  <c:v>8.28</c:v>
                </c:pt>
                <c:pt idx="4">
                  <c:v>6.44</c:v>
                </c:pt>
                <c:pt idx="5">
                  <c:v>7.69</c:v>
                </c:pt>
                <c:pt idx="6">
                  <c:v>6.46</c:v>
                </c:pt>
                <c:pt idx="7">
                  <c:v>4.93</c:v>
                </c:pt>
                <c:pt idx="8">
                  <c:v>10.01</c:v>
                </c:pt>
                <c:pt idx="9">
                  <c:v>7.64</c:v>
                </c:pt>
                <c:pt idx="10">
                  <c:v>5.92</c:v>
                </c:pt>
                <c:pt idx="11">
                  <c:v>2.63</c:v>
                </c:pt>
                <c:pt idx="12">
                  <c:v>5.62</c:v>
                </c:pt>
                <c:pt idx="13">
                  <c:v>3.7</c:v>
                </c:pt>
                <c:pt idx="14">
                  <c:v>4.9</c:v>
                </c:pt>
                <c:pt idx="15">
                  <c:v>5.27</c:v>
                </c:pt>
                <c:pt idx="16">
                  <c:v>5.96</c:v>
                </c:pt>
                <c:pt idx="17">
                  <c:v>8.38</c:v>
                </c:pt>
                <c:pt idx="18">
                  <c:v>5.33</c:v>
                </c:pt>
                <c:pt idx="19">
                  <c:v>3.68</c:v>
                </c:pt>
                <c:pt idx="20">
                  <c:v>3.93</c:v>
                </c:pt>
                <c:pt idx="21">
                  <c:v>4.67</c:v>
                </c:pt>
                <c:pt idx="22">
                  <c:v>4.83</c:v>
                </c:pt>
                <c:pt idx="23">
                  <c:v>6.54</c:v>
                </c:pt>
                <c:pt idx="24">
                  <c:v>6.82</c:v>
                </c:pt>
                <c:pt idx="25">
                  <c:v>5.4</c:v>
                </c:pt>
                <c:pt idx="26">
                  <c:v>4.89</c:v>
                </c:pt>
                <c:pt idx="27">
                  <c:v>2.95</c:v>
                </c:pt>
                <c:pt idx="28">
                  <c:v>6.66</c:v>
                </c:pt>
                <c:pt idx="29">
                  <c:v>5.17</c:v>
                </c:pt>
                <c:pt idx="30">
                  <c:v>6.77</c:v>
                </c:pt>
                <c:pt idx="31">
                  <c:v>3.32</c:v>
                </c:pt>
                <c:pt idx="32">
                  <c:v>4.34</c:v>
                </c:pt>
                <c:pt idx="33">
                  <c:v>3.26</c:v>
                </c:pt>
                <c:pt idx="34">
                  <c:v>2.33</c:v>
                </c:pt>
                <c:pt idx="35">
                  <c:v>1.85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Dec'13</c:v>
                  </c:pt>
                  <c:pt idx="1">
                    <c:v>Jan'14</c:v>
                  </c:pt>
                  <c:pt idx="2">
                    <c:v>Feb'14</c:v>
                  </c:pt>
                  <c:pt idx="3">
                    <c:v>Mar'14</c:v>
                  </c:pt>
                  <c:pt idx="4">
                    <c:v>Apr'14</c:v>
                  </c:pt>
                  <c:pt idx="5">
                    <c:v>May'14</c:v>
                  </c:pt>
                  <c:pt idx="6">
                    <c:v>Jun'14</c:v>
                  </c:pt>
                  <c:pt idx="7">
                    <c:v>Jul'14</c:v>
                  </c:pt>
                  <c:pt idx="8">
                    <c:v>Aug'14</c:v>
                  </c:pt>
                  <c:pt idx="9">
                    <c:v>Sep'14</c:v>
                  </c:pt>
                  <c:pt idx="10">
                    <c:v>Oct'14</c:v>
                  </c:pt>
                  <c:pt idx="11">
                    <c:v>Nov'14</c:v>
                  </c:pt>
                  <c:pt idx="12">
                    <c:v>Dec'14</c:v>
                  </c:pt>
                  <c:pt idx="13">
                    <c:v>Jan'15</c:v>
                  </c:pt>
                  <c:pt idx="14">
                    <c:v>Feb'15</c:v>
                  </c:pt>
                  <c:pt idx="15">
                    <c:v>Mar'15</c:v>
                  </c:pt>
                  <c:pt idx="16">
                    <c:v>Apr'15</c:v>
                  </c:pt>
                  <c:pt idx="17">
                    <c:v>May'15</c:v>
                  </c:pt>
                  <c:pt idx="18">
                    <c:v>Jun'15</c:v>
                  </c:pt>
                  <c:pt idx="19">
                    <c:v>Jul'15</c:v>
                  </c:pt>
                  <c:pt idx="20">
                    <c:v>Aug'15</c:v>
                  </c:pt>
                  <c:pt idx="21">
                    <c:v>Sep'15</c:v>
                  </c:pt>
                  <c:pt idx="22">
                    <c:v>Oct'15</c:v>
                  </c:pt>
                  <c:pt idx="23">
                    <c:v>Nov'15</c:v>
                  </c:pt>
                  <c:pt idx="24">
                    <c:v>Dec'15</c:v>
                  </c:pt>
                  <c:pt idx="25">
                    <c:v>Jan'16</c:v>
                  </c:pt>
                  <c:pt idx="26">
                    <c:v>Feb'16</c:v>
                  </c:pt>
                  <c:pt idx="27">
                    <c:v>Mar'16</c:v>
                  </c:pt>
                  <c:pt idx="28">
                    <c:v>Apr'16</c:v>
                  </c:pt>
                  <c:pt idx="29">
                    <c:v>May'16</c:v>
                  </c:pt>
                  <c:pt idx="30">
                    <c:v>Jun'16</c:v>
                  </c:pt>
                  <c:pt idx="31">
                    <c:v>Jul'16</c:v>
                  </c:pt>
                  <c:pt idx="32">
                    <c:v>Aug'16</c:v>
                  </c:pt>
                  <c:pt idx="33">
                    <c:v>Sep'16</c:v>
                  </c:pt>
                  <c:pt idx="34">
                    <c:v>Oct'16</c:v>
                  </c:pt>
                  <c:pt idx="35">
                    <c:v>Nov'16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-2.44</c:v>
                </c:pt>
                <c:pt idx="1">
                  <c:v>0.31</c:v>
                </c:pt>
                <c:pt idx="2">
                  <c:v>-2.3</c:v>
                </c:pt>
                <c:pt idx="3">
                  <c:v>-1.64</c:v>
                </c:pt>
                <c:pt idx="4">
                  <c:v>-0.68</c:v>
                </c:pt>
                <c:pt idx="5">
                  <c:v>-4.19</c:v>
                </c:pt>
                <c:pt idx="6">
                  <c:v>-2.93</c:v>
                </c:pt>
                <c:pt idx="7">
                  <c:v>-1.44</c:v>
                </c:pt>
                <c:pt idx="8">
                  <c:v>-5.14</c:v>
                </c:pt>
                <c:pt idx="9">
                  <c:v>-7.2</c:v>
                </c:pt>
                <c:pt idx="10">
                  <c:v>-1.92</c:v>
                </c:pt>
                <c:pt idx="11">
                  <c:v>4.34</c:v>
                </c:pt>
                <c:pt idx="12">
                  <c:v>-5.68</c:v>
                </c:pt>
                <c:pt idx="13">
                  <c:v>-4.2</c:v>
                </c:pt>
                <c:pt idx="14">
                  <c:v>-5.11</c:v>
                </c:pt>
                <c:pt idx="15">
                  <c:v>-6.27</c:v>
                </c:pt>
                <c:pt idx="16">
                  <c:v>-5.41</c:v>
                </c:pt>
                <c:pt idx="17">
                  <c:v>-7.03</c:v>
                </c:pt>
                <c:pt idx="18">
                  <c:v>-3.54</c:v>
                </c:pt>
                <c:pt idx="19">
                  <c:v>-4.12</c:v>
                </c:pt>
                <c:pt idx="20">
                  <c:v>-7.02</c:v>
                </c:pt>
                <c:pt idx="21">
                  <c:v>-7.59</c:v>
                </c:pt>
                <c:pt idx="22">
                  <c:v>-7.18</c:v>
                </c:pt>
                <c:pt idx="23">
                  <c:v>-9.19</c:v>
                </c:pt>
                <c:pt idx="24">
                  <c:v>-4.89</c:v>
                </c:pt>
                <c:pt idx="25">
                  <c:v>-4.71</c:v>
                </c:pt>
                <c:pt idx="26">
                  <c:v>0.05</c:v>
                </c:pt>
                <c:pt idx="27">
                  <c:v>1.15</c:v>
                </c:pt>
                <c:pt idx="28">
                  <c:v>-7.07</c:v>
                </c:pt>
                <c:pt idx="29">
                  <c:v>-3.25</c:v>
                </c:pt>
                <c:pt idx="30">
                  <c:v>-5.87</c:v>
                </c:pt>
                <c:pt idx="31">
                  <c:v>1.7</c:v>
                </c:pt>
                <c:pt idx="32">
                  <c:v>-3.14</c:v>
                </c:pt>
                <c:pt idx="33">
                  <c:v>1.51</c:v>
                </c:pt>
                <c:pt idx="34">
                  <c:v>9.44</c:v>
                </c:pt>
                <c:pt idx="35">
                  <c:v>6.84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Sales (Rm)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Gross Margin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(R'000)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156.3</c:v>
                </c:pt>
                <c:pt idx="1">
                  <c:v>137.3</c:v>
                </c:pt>
                <c:pt idx="2">
                  <c:v>145.9</c:v>
                </c:pt>
                <c:pt idx="3">
                  <c:v>141.1</c:v>
                </c:pt>
                <c:pt idx="4">
                  <c:v>245.3</c:v>
                </c:pt>
                <c:pt idx="5">
                  <c:v>279</c:v>
                </c:pt>
                <c:pt idx="6">
                  <c:v>138.2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(Rm)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2013*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75.41</c:v>
                </c:pt>
                <c:pt idx="2">
                  <c:v>64.02</c:v>
                </c:pt>
                <c:pt idx="3">
                  <c:v>46.95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of Sales (Rm)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2013*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</c:v>
                </c:pt>
                <c:pt idx="1">
                  <c:v>77.68</c:v>
                </c:pt>
                <c:pt idx="2">
                  <c:v>67.92</c:v>
                </c:pt>
                <c:pt idx="3">
                  <c:v>47.89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Gross Profit (Rm)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2013*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-0.01</c:v>
                </c:pt>
                <c:pt idx="1">
                  <c:v>-2.27</c:v>
                </c:pt>
                <c:pt idx="2">
                  <c:v>-3.9</c:v>
                </c:pt>
                <c:pt idx="3">
                  <c:v>-0.94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Rand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Avg Quantity Sold /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Quantity Sold / Day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Promotion</c:v>
                  </c:pt>
                  <c:pt idx="1">
                    <c:v>Normal Price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6811</c:v>
                </c:pt>
                <c:pt idx="1">
                  <c:v>3179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FNB SALES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Profitability &amp; Promotion Performance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2013 – November 2016   |   Daily Sales, Cost of Sales &amp; Quantity Sold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2A3A8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sets out to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Price per Unit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4768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the selling price per unit moves day to day.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7356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77356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63156" y="155448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 Sales Price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63156" y="1920240"/>
            <a:ext cx="4768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one headline average price for the product.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% Gross Profit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37560"/>
            <a:ext cx="4768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profitability of every day of trading.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7356" y="3017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77356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63156" y="297180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% Gross Profit per Unit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3156" y="3337560"/>
            <a:ext cx="4768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profitability down to a per-unit basis.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38912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of Demand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754880"/>
            <a:ext cx="4768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3 promotional periods affected demand.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4434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77356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63156" y="4389120"/>
            <a:ext cx="4768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Insights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3156" y="4754880"/>
            <a:ext cx="4768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any additional patterns worth acting 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trading data, one product, 1,053 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— day of trading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(R) — revenue for that day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Sales (R) — cost of goods sold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 — units sold that day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price/unit, gross profit, gross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%, promotion flag, day/month/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year/quarter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73736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1031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943600" y="3063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continuous daily data — no gaps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30, 2013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16, 2016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78240" y="3886200"/>
            <a:ext cx="0" cy="777240"/>
          </a:xfrm>
          <a:prstGeom prst="line">
            <a:avLst/>
          </a:prstGeom>
          <a:noFill/>
          <a:ln w="12700">
            <a:solidFill>
              <a:srgbClr val="3A4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years 11 months of trading history across 1 retail product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2013 – Nov 2016, full period totals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514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R186.9m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8" name="Text 6"/>
          <p:cNvSpPr/>
          <p:nvPr/>
        </p:nvSpPr>
        <p:spPr>
          <a:xfrm>
            <a:off x="4337304" y="1920240"/>
            <a:ext cx="3514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R194.0m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37304" y="292608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Sales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125968" y="1920240"/>
            <a:ext cx="3514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-R7.1m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25968" y="292608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Profit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14344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514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Gross Margin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7304" y="3703320"/>
            <a:ext cx="3514344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4337304" y="3931920"/>
            <a:ext cx="3514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5.28m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37304" y="493776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5968" y="3703320"/>
            <a:ext cx="3514344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8125968" y="3931920"/>
            <a:ext cx="3514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R35.40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25968" y="493776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Price/Unit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Sales exceeds Sales overall — the business is trading at a loss on paper across the full period analyzed.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vs. Gross Margin 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— bars show revenue, line shows profitability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negative in 28 of 36 months — worst through 2015 — with a clear recovery only in Sep–Nov 2016.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Sales by Day of Week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demand is far stronger than weekday demand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5F7FB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Saturday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9552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R279k avg. daily sales — 2x a typical weekday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0" y="3429000"/>
            <a:ext cx="34747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day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3886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Tuesday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552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R137k avg. daily sales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Sales, Cost &amp; Gross Profit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was the low point; 2016 (partial) shows recovery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*2013 and 2016 are partial years (2 days, and ~10.5 months, of data respectively) — not directly comparable to full years.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vs. Normal Price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discounting changes price, volume and margin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9164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8013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/ Unit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2148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R34.07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69680" y="2148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R40.14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852160" y="310896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32186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 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-3.8%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69680" y="3566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+2.1%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852160" y="452628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608076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Period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4983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869680" y="4983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08076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869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Price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selected promotional periods, vs. the normal-price baseline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42062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514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Apr – 8 May 2016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514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-9.70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change:  </a:t>
            </a:r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-13.8%
</a:t>
            </a:r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change:  </a:t>
            </a:r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2965704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29200"/>
            <a:ext cx="2965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7304" y="1600200"/>
            <a:ext cx="3514344" cy="42062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7304" y="178308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37304" y="2194560"/>
            <a:ext cx="3514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Jan – 8 Feb 2016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37304" y="251460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37304" y="297180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37304" y="3246120"/>
            <a:ext cx="3514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-9.88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11624" y="420624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change:  </a:t>
            </a:r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-15.1%
</a:t>
            </a:r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change:  </a:t>
            </a:r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+149.3%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1624" y="5029200"/>
            <a:ext cx="2965704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611624" y="5029200"/>
            <a:ext cx="2965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5968" y="1600200"/>
            <a:ext cx="3514344" cy="42062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5968" y="178308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5968" y="2194560"/>
            <a:ext cx="3514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Oct – 8 Nov 2015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25968" y="251460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days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25968" y="297180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25968" y="3246120"/>
            <a:ext cx="3514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-8.13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400288" y="4206240"/>
            <a:ext cx="2965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change:  </a:t>
            </a:r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-9.2%
</a:t>
            </a:r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change:  </a:t>
            </a:r>
            <a:pPr algn="ctr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+74.8%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00288" y="5029200"/>
            <a:ext cx="2965704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00288" y="5029200"/>
            <a:ext cx="2965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are really saying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loss-making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313432"/>
            <a:ext cx="44028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runs at an overall -3.8% gross margin — Cost of Sales exceeds Sales in 28 of 36 months, not just occasionally.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60236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60236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8876" y="1874520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drive volume, not profit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08876" y="2313432"/>
            <a:ext cx="44028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highly elastic (PED -8 to -10) — quantity sold jumps 75-150% on promotion — but margin turns more negative during those periods, not less.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08676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23360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weekly rhythm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462272"/>
            <a:ext cx="44028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and Friday sales run 1.7-2x higher than an average weekday, showing predictable, plannable weekend demand.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1636" y="3840480"/>
            <a:ext cx="5408676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0236" y="4069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60236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8876" y="4023360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was the worst year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08876" y="4462272"/>
            <a:ext cx="44028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margin bottomed at -6.1% in 2015 before improving in 2016, suggesting something changed for the better late in the dataset worth investigating.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root cause of Cost of Sales consistently outpacing Sales — check supplier pricing, shrinkage, wastage and input cost trends, since this is the single biggest driver of the loss.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promotional pricing depth — current promotions cut price by 9-15% and margin still worsens; test shallower discounts to see if volume gains can be kept while protecting margin.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7490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the weekend demand pattern — align staffing, stock levels and any marketing spend towards Friday and Saturday, the two consistently strongest days.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800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changed in late 2016 — margin turned positive in Sep, Oct and Nov 2016 after two years of losses; identify and replicate whatever drove that recovery.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Sales Case Study — Sales, Profitability &amp; Promotion Performance 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2026-08-02T15:35:57Z</dcterms:created>
  <dcterms:modified xsi:type="dcterms:W3CDTF">2026-08-02T15:35:58Z</dcterms:modified>
</cp:coreProperties>
</file>